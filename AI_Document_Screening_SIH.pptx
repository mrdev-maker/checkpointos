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36853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06640" y="685800"/>
            <a:ext cx="5486400" cy="5486400"/>
          </a:xfrm>
          <a:prstGeom prst="ellipse">
            <a:avLst/>
          </a:prstGeom>
          <a:ln w="15875">
            <a:solidFill>
              <a:srgbClr val="6C93B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01000" y="1280160"/>
            <a:ext cx="4297680" cy="4297680"/>
          </a:xfrm>
          <a:prstGeom prst="ellipse">
            <a:avLst/>
          </a:prstGeom>
          <a:ln w="15875">
            <a:solidFill>
              <a:srgbClr val="6C93BE">
                <a:alpha val="8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95360" y="1874520"/>
            <a:ext cx="3108960" cy="3108960"/>
          </a:xfrm>
          <a:prstGeom prst="ellipse">
            <a:avLst/>
          </a:prstGeom>
          <a:ln w="15875">
            <a:solidFill>
              <a:srgbClr val="6C93BE">
                <a:alpha val="7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89720" y="2468880"/>
            <a:ext cx="1920240" cy="1920240"/>
          </a:xfrm>
          <a:prstGeom prst="ellipse">
            <a:avLst/>
          </a:prstGeom>
          <a:ln w="15875">
            <a:solidFill>
              <a:srgbClr val="6C93BE">
                <a:alpha val="6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46920" y="2926080"/>
            <a:ext cx="1005840" cy="10058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46920" y="29260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85216" y="5257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6C9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INDIA HACKATHON 2025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960120"/>
            <a:ext cx="54864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1234440"/>
            <a:ext cx="7863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AI-Based Fake Identity &amp;</a:t>
            </a:r>
            <a:endParaRPr lang="en-US" sz="4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 Screening System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640080" y="306324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8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document screening platform that detects tampering and forgery, validates travel documents, and generates real-time risk scores to support faster, more accurate border security decisions.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709160"/>
            <a:ext cx="10881360" cy="1417320"/>
          </a:xfrm>
          <a:prstGeom prst="rect">
            <a:avLst/>
          </a:prstGeom>
          <a:solidFill>
            <a:srgbClr val="132A4E"/>
          </a:solidFill>
          <a:ln w="9525">
            <a:solidFill>
              <a:srgbClr val="2E5C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487375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C9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ID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68680" y="5148072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434840" y="487375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C9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TITLE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434840" y="5148072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Fake Identity &amp; Document Screening System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001000" y="487375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C9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001000" y="5148072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Miscellaneous / Border &amp; Travel Security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68680" y="5605272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C9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 CATEGORY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68680" y="5843016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434840" y="5605272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C9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ID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434840" y="5843016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001000" y="5605272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C9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001000" y="5843016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Challenges at Border Checkpoints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257800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E3E9F0"/>
            </a:solidFill>
            <a:prstDash val="solid"/>
          </a:ln>
          <a:effectLst>
            <a:outerShdw blurRad="76200" dist="25400" dir="5400000" algn="bl" rotWithShape="0">
              <a:srgbClr val="1C2733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76656" y="1719072"/>
            <a:ext cx="457200" cy="457200"/>
          </a:xfrm>
          <a:prstGeom prst="ellipse">
            <a:avLst/>
          </a:prstGeom>
          <a:solidFill>
            <a:srgbClr val="2E5C8A"/>
          </a:solidFill>
          <a:ln w="12700">
            <a:solidFill>
              <a:srgbClr val="2E5C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" y="1719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80160" y="1600200"/>
            <a:ext cx="4434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passports and visas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441448"/>
            <a:ext cx="5257800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E3E9F0"/>
            </a:solidFill>
            <a:prstDash val="solid"/>
          </a:ln>
          <a:effectLst>
            <a:outerShdw blurRad="76200" dist="25400" dir="5400000" algn="bl" rotWithShape="0">
              <a:srgbClr val="1C2733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76656" y="2560320"/>
            <a:ext cx="457200" cy="457200"/>
          </a:xfrm>
          <a:prstGeom prst="ellipse">
            <a:avLst/>
          </a:prstGeom>
          <a:solidFill>
            <a:srgbClr val="2E5C8A"/>
          </a:solidFill>
          <a:ln w="12700">
            <a:solidFill>
              <a:srgbClr val="2E5C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6656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80160" y="2441448"/>
            <a:ext cx="4434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Altered photographs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282696"/>
            <a:ext cx="5257800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E3E9F0"/>
            </a:solidFill>
            <a:prstDash val="solid"/>
          </a:ln>
          <a:effectLst>
            <a:outerShdw blurRad="76200" dist="25400" dir="5400000" algn="bl" rotWithShape="0">
              <a:srgbClr val="1C2733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76656" y="3401568"/>
            <a:ext cx="457200" cy="457200"/>
          </a:xfrm>
          <a:prstGeom prst="ellipse">
            <a:avLst/>
          </a:prstGeom>
          <a:solidFill>
            <a:srgbClr val="2E5C8A"/>
          </a:solidFill>
          <a:ln w="12700">
            <a:solidFill>
              <a:srgbClr val="2E5C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6656" y="3401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80160" y="3282696"/>
            <a:ext cx="4434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Modified dates of birth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35040" y="1600200"/>
            <a:ext cx="5257800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E3E9F0"/>
            </a:solidFill>
            <a:prstDash val="solid"/>
          </a:ln>
          <a:effectLst>
            <a:outerShdw blurRad="76200" dist="25400" dir="5400000" algn="bl" rotWithShape="0">
              <a:srgbClr val="1C2733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63056" y="1719072"/>
            <a:ext cx="457200" cy="457200"/>
          </a:xfrm>
          <a:prstGeom prst="ellipse">
            <a:avLst/>
          </a:prstGeom>
          <a:solidFill>
            <a:srgbClr val="2E5C8A"/>
          </a:solidFill>
          <a:ln w="12700">
            <a:solidFill>
              <a:srgbClr val="2E5C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63056" y="1719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766560" y="1600200"/>
            <a:ext cx="4434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Tampered visa stamps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035040" y="2441448"/>
            <a:ext cx="5257800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E3E9F0"/>
            </a:solidFill>
            <a:prstDash val="solid"/>
          </a:ln>
          <a:effectLst>
            <a:outerShdw blurRad="76200" dist="25400" dir="5400000" algn="bl" rotWithShape="0">
              <a:srgbClr val="1C2733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63056" y="2560320"/>
            <a:ext cx="457200" cy="457200"/>
          </a:xfrm>
          <a:prstGeom prst="ellipse">
            <a:avLst/>
          </a:prstGeom>
          <a:solidFill>
            <a:srgbClr val="2E5C8A"/>
          </a:solidFill>
          <a:ln w="12700">
            <a:solidFill>
              <a:srgbClr val="2E5C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63056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766560" y="2441448"/>
            <a:ext cx="4434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impersonation &amp; multiple identities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035040" y="3282696"/>
            <a:ext cx="5257800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E3E9F0"/>
            </a:solidFill>
            <a:prstDash val="solid"/>
          </a:ln>
          <a:effectLst>
            <a:outerShdw blurRad="76200" dist="25400" dir="5400000" algn="bl" rotWithShape="0">
              <a:srgbClr val="1C2733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63056" y="3401568"/>
            <a:ext cx="457200" cy="457200"/>
          </a:xfrm>
          <a:prstGeom prst="ellipse">
            <a:avLst/>
          </a:prstGeom>
          <a:solidFill>
            <a:srgbClr val="2E5C8A"/>
          </a:solidFill>
          <a:ln w="12700">
            <a:solidFill>
              <a:srgbClr val="2E5C8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63056" y="3401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766560" y="3282696"/>
            <a:ext cx="4434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Expired or blacklisted travel documents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548640" y="4343400"/>
            <a:ext cx="10744200" cy="566928"/>
          </a:xfrm>
          <a:prstGeom prst="roundRect">
            <a:avLst>
              <a:gd name="adj" fmla="val 9677"/>
            </a:avLst>
          </a:prstGeom>
          <a:solidFill>
            <a:srgbClr val="D8E4F2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" y="4343400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passenger volume causes processing delays — checkpoints screen thousands of documents every single day.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48640" y="5120640"/>
            <a:ext cx="10744200" cy="1234440"/>
          </a:xfrm>
          <a:prstGeom prst="roundRect">
            <a:avLst>
              <a:gd name="adj" fmla="val 4444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68680" y="5230368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1000s</a:t>
            </a:r>
            <a:endParaRPr lang="en-US" sz="4000" dirty="0"/>
          </a:p>
        </p:txBody>
      </p:sp>
      <p:sp>
        <p:nvSpPr>
          <p:cNvPr id="32" name="Text 30"/>
          <p:cNvSpPr/>
          <p:nvPr/>
        </p:nvSpPr>
        <p:spPr>
          <a:xfrm>
            <a:off x="3200400" y="5230368"/>
            <a:ext cx="4206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8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&amp; travel documents processed per checkpoint, daily — passports, visas, national IDs, permits and travel authorizations.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589520" y="5285232"/>
            <a:ext cx="0" cy="868680"/>
          </a:xfrm>
          <a:prstGeom prst="line">
            <a:avLst/>
          </a:prstGeom>
          <a:noFill/>
          <a:ln w="12700">
            <a:solidFill>
              <a:srgbClr val="2E5C8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818120" y="5230368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8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verification relies heavily on manual inspection and basic database lookups — slow, inconsistent, and unable to catch sophisticated forgeries.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FAKE IDENTITY &amp; DOCUMENT SCREENING SYSTEM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DESCRIPTION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Solution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an AI-powered document screening platform that automatically analyzes identity and travel documents, detects signs of tampering or forgery, validates information against rules and databases, and generates a risk score to assist border security personnel in making faster and more accurate decisions.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3E9F0"/>
            </a:solidFill>
            <a:prstDash val="solid"/>
          </a:ln>
          <a:effectLst>
            <a:outerShdw blurRad="101600" dist="25400" dir="5400000" algn="bl" rotWithShape="0">
              <a:srgbClr val="1C2733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85900" y="2697480"/>
            <a:ext cx="731520" cy="731520"/>
          </a:xfrm>
          <a:prstGeom prst="ellipse">
            <a:avLst/>
          </a:prstGeom>
          <a:solidFill>
            <a:srgbClr val="2E5C8A"/>
          </a:solidFill>
          <a:ln w="12700">
            <a:solidFill>
              <a:srgbClr val="2E5C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85900" y="2697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356616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1</a:t>
            </a:r>
            <a:endParaRPr lang="en-US" sz="14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OCR Extraction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416052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all relevant text fields from scanned identity documents.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91840" y="242316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3E9F0"/>
            </a:solidFill>
            <a:prstDash val="solid"/>
          </a:ln>
          <a:effectLst>
            <a:outerShdw blurRad="101600" dist="25400" dir="5400000" algn="bl" rotWithShape="0">
              <a:srgbClr val="1C2733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29100" y="2697480"/>
            <a:ext cx="731520" cy="731520"/>
          </a:xfrm>
          <a:prstGeom prst="ellipse">
            <a:avLst/>
          </a:prstGeom>
          <a:solidFill>
            <a:srgbClr val="2E5C8A"/>
          </a:solidFill>
          <a:ln w="12700">
            <a:solidFill>
              <a:srgbClr val="2E5C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29100" y="2697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DV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429000" y="356616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2</a:t>
            </a:r>
            <a:endParaRPr lang="en-US" sz="14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 Validation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74720" y="416052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extracted data against official format rules &amp; databases.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35040" y="242316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3E9F0"/>
            </a:solidFill>
            <a:prstDash val="solid"/>
          </a:ln>
          <a:effectLst>
            <a:outerShdw blurRad="101600" dist="25400" dir="5400000" algn="bl" rotWithShape="0">
              <a:srgbClr val="1C2733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972300" y="2697480"/>
            <a:ext cx="731520" cy="73152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72300" y="2697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172200" y="356616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3</a:t>
            </a:r>
            <a:endParaRPr lang="en-US" sz="14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Tampering Detection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17920" y="416052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AI engine that flags digitally or physically altered documents.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778240" y="242316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3E9F0"/>
            </a:solidFill>
            <a:prstDash val="solid"/>
          </a:ln>
          <a:effectLst>
            <a:outerShdw blurRad="101600" dist="25400" dir="5400000" algn="bl" rotWithShape="0">
              <a:srgbClr val="1C2733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715500" y="2697480"/>
            <a:ext cx="731520" cy="731520"/>
          </a:xfrm>
          <a:prstGeom prst="ellipse">
            <a:avLst/>
          </a:prstGeom>
          <a:solidFill>
            <a:srgbClr val="2E5C8A"/>
          </a:solidFill>
          <a:ln w="12700">
            <a:solidFill>
              <a:srgbClr val="2E5C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715500" y="2697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FV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915400" y="356616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4</a:t>
            </a:r>
            <a:endParaRPr lang="en-US" sz="14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Face Verification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961120" y="416052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the document owner matches the presented individual.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48640" y="50292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WORKFLOW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5394960"/>
            <a:ext cx="1426464" cy="777240"/>
          </a:xfrm>
          <a:prstGeom prst="roundRect">
            <a:avLst>
              <a:gd name="adj" fmla="val 7059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5394960"/>
            <a:ext cx="14264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975104" y="5394960"/>
            <a:ext cx="137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2112264" y="5394960"/>
            <a:ext cx="1426464" cy="777240"/>
          </a:xfrm>
          <a:prstGeom prst="roundRect">
            <a:avLst>
              <a:gd name="adj" fmla="val 7059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112264" y="5394960"/>
            <a:ext cx="14264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538728" y="5394960"/>
            <a:ext cx="137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3675888" y="5394960"/>
            <a:ext cx="1426464" cy="777240"/>
          </a:xfrm>
          <a:prstGeom prst="roundRect">
            <a:avLst>
              <a:gd name="adj" fmla="val 7059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75888" y="5394960"/>
            <a:ext cx="14264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102352" y="5394960"/>
            <a:ext cx="137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5239512" y="5394960"/>
            <a:ext cx="1426464" cy="777240"/>
          </a:xfrm>
          <a:prstGeom prst="roundRect">
            <a:avLst>
              <a:gd name="adj" fmla="val 7059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239512" y="5394960"/>
            <a:ext cx="14264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Tampering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665976" y="5394960"/>
            <a:ext cx="137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803136" y="5394960"/>
            <a:ext cx="1426464" cy="777240"/>
          </a:xfrm>
          <a:prstGeom prst="roundRect">
            <a:avLst>
              <a:gd name="adj" fmla="val 7059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03136" y="5394960"/>
            <a:ext cx="14264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8229600" y="5394960"/>
            <a:ext cx="137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366760" y="5394960"/>
            <a:ext cx="1426464" cy="777240"/>
          </a:xfrm>
          <a:prstGeom prst="roundRect">
            <a:avLst>
              <a:gd name="adj" fmla="val 7059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366760" y="5394960"/>
            <a:ext cx="14264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9793224" y="5394960"/>
            <a:ext cx="137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9930384" y="5394960"/>
            <a:ext cx="1426464" cy="777240"/>
          </a:xfrm>
          <a:prstGeom prst="roundRect">
            <a:avLst>
              <a:gd name="adj" fmla="val 7059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930384" y="5394960"/>
            <a:ext cx="14264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FAKE IDENTITY &amp; DOCUMENT SCREENING SYSTEM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1 &amp; 2 — Extraction and Validation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4924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E3E9F0"/>
            </a:solidFill>
            <a:prstDash val="solid"/>
          </a:ln>
          <a:effectLst>
            <a:outerShdw blurRad="76200" dist="25400" dir="5400000" algn="bl" rotWithShape="0">
              <a:srgbClr val="1C2733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737360"/>
            <a:ext cx="548640" cy="548640"/>
          </a:xfrm>
          <a:prstGeom prst="ellipse">
            <a:avLst/>
          </a:prstGeom>
          <a:solidFill>
            <a:srgbClr val="2E5C8A"/>
          </a:solidFill>
          <a:ln w="12700">
            <a:solidFill>
              <a:srgbClr val="2E5C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508760" y="17373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1 — OCR Extraction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237744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Automatically extract all relevant information from identity documents.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22960" y="28803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22960" y="3154680"/>
            <a:ext cx="4800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Passport image</a:t>
            </a:r>
            <a:endParaRPr lang="en-US" sz="11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Visa image</a:t>
            </a:r>
            <a:endParaRPr lang="en-US" sz="11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ID image</a:t>
            </a:r>
            <a:endParaRPr lang="en-US" sz="11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Driving license</a:t>
            </a:r>
            <a:endParaRPr lang="en-US" sz="11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 documents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22960" y="42976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FIELDS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22960" y="459028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Passport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4846320"/>
            <a:ext cx="2468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0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Passport Number</a:t>
            </a:r>
            <a:endParaRPr lang="en-US" sz="10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Nationality</a:t>
            </a:r>
            <a:endParaRPr lang="en-US" sz="10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of Birth</a:t>
            </a:r>
            <a:endParaRPr lang="en-US" sz="10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of Expiry</a:t>
            </a:r>
            <a:endParaRPr lang="en-US" sz="10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429000" y="459028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29000" y="484632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Visa Number</a:t>
            </a:r>
            <a:endParaRPr lang="en-US" sz="10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Visa Type</a:t>
            </a:r>
            <a:endParaRPr lang="en-US" sz="10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Validation</a:t>
            </a:r>
            <a:endParaRPr lang="en-US" sz="10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Duration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72200" y="146304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  <a:effectLst>
            <a:outerShdw blurRad="76200" dist="25400" dir="5400000" algn="bl" rotWithShape="0">
              <a:srgbClr val="1C2733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46520" y="173736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4652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DV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132320" y="17373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2 — Document Validation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446520" y="237744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D8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Verify whether extracted information follows official document standards.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46520" y="2971800"/>
            <a:ext cx="310896" cy="310896"/>
          </a:xfrm>
          <a:prstGeom prst="ellipse">
            <a:avLst/>
          </a:prstGeom>
          <a:solidFill>
            <a:srgbClr val="2E5C8A"/>
          </a:solidFill>
          <a:ln w="12700">
            <a:solidFill>
              <a:srgbClr val="2E5C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46520" y="2971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949440" y="294436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&amp; Standards Check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949440" y="3227832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8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field formats (dates, document numbers, MRZ) against ICAO/national issuing standards.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446520" y="3813048"/>
            <a:ext cx="310896" cy="310896"/>
          </a:xfrm>
          <a:prstGeom prst="ellipse">
            <a:avLst/>
          </a:prstGeom>
          <a:solidFill>
            <a:srgbClr val="2E5C8A"/>
          </a:solidFill>
          <a:ln w="12700">
            <a:solidFill>
              <a:srgbClr val="2E5C8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46520" y="38130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49440" y="378561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Cross-Verification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949440" y="406908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8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extracted details against issuing-authority and watchlist databases.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446520" y="4654296"/>
            <a:ext cx="310896" cy="310896"/>
          </a:xfrm>
          <a:prstGeom prst="ellipse">
            <a:avLst/>
          </a:prstGeom>
          <a:solidFill>
            <a:srgbClr val="2E5C8A"/>
          </a:solidFill>
          <a:ln w="12700">
            <a:solidFill>
              <a:srgbClr val="2E5C8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46520" y="46542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949440" y="462686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Expiry &amp; Blacklist Check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949440" y="4910328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8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expired, revoked, or blacklisted travel documents automatically.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446520" y="5495544"/>
            <a:ext cx="310896" cy="310896"/>
          </a:xfrm>
          <a:prstGeom prst="ellipse">
            <a:avLst/>
          </a:prstGeom>
          <a:solidFill>
            <a:srgbClr val="2E5C8A"/>
          </a:solidFill>
          <a:ln w="12700">
            <a:solidFill>
              <a:srgbClr val="2E5C8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46520" y="54955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949440" y="546811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 Validation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6949440" y="5751576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8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Cross-checks data across linked documents (e.g. passport vs. visa) for mismatches.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FAKE IDENTITY &amp; DOCUMENT SCREENING SYSTEM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3 &amp; 4 — Tampering Detection and Face Verification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71666"/>
            <a:ext cx="649224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  <a:effectLst>
            <a:outerShdw blurRad="101600" dist="25400" dir="5400000" algn="bl" rotWithShape="0">
              <a:srgbClr val="1C2733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73736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508760" y="168249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3 — Tampering Detection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1536192" y="2066544"/>
            <a:ext cx="1874520" cy="256032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2066544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AI INNOVATION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22960" y="25146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Detect digitally or physically altered documents.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22960" y="3063240"/>
            <a:ext cx="2834640" cy="1234440"/>
          </a:xfrm>
          <a:prstGeom prst="roundRect">
            <a:avLst>
              <a:gd name="adj" fmla="val 4444"/>
            </a:avLst>
          </a:prstGeom>
          <a:solidFill>
            <a:srgbClr val="F5F7FA"/>
          </a:solidFill>
          <a:ln w="12700">
            <a:solidFill>
              <a:srgbClr val="E3E9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7552" y="3172968"/>
            <a:ext cx="2505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Replacement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87552" y="3483864"/>
            <a:ext cx="25054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swapped or digitally pasted photographs on the document.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931920" y="3063240"/>
            <a:ext cx="2834640" cy="1234440"/>
          </a:xfrm>
          <a:prstGeom prst="roundRect">
            <a:avLst>
              <a:gd name="adj" fmla="val 4444"/>
            </a:avLst>
          </a:prstGeom>
          <a:solidFill>
            <a:srgbClr val="F5F7FA"/>
          </a:solidFill>
          <a:ln w="12700">
            <a:solidFill>
              <a:srgbClr val="E3E9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96512" y="3172968"/>
            <a:ext cx="2505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Manipulation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096512" y="3483864"/>
            <a:ext cx="25054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altered names, dates, or numbers via font and pixel analysis.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22960" y="4480560"/>
            <a:ext cx="2834640" cy="1234440"/>
          </a:xfrm>
          <a:prstGeom prst="roundRect">
            <a:avLst>
              <a:gd name="adj" fmla="val 4444"/>
            </a:avLst>
          </a:prstGeom>
          <a:solidFill>
            <a:srgbClr val="F5F7FA"/>
          </a:solidFill>
          <a:ln w="12700">
            <a:solidFill>
              <a:srgbClr val="E3E9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87552" y="4590288"/>
            <a:ext cx="2505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Stamp Forgery Detection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87552" y="4901184"/>
            <a:ext cx="25054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fake or copy-pasted visa and entry/exit stamps.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931920" y="4480560"/>
            <a:ext cx="2834640" cy="1234440"/>
          </a:xfrm>
          <a:prstGeom prst="roundRect">
            <a:avLst>
              <a:gd name="adj" fmla="val 4444"/>
            </a:avLst>
          </a:prstGeom>
          <a:solidFill>
            <a:srgbClr val="F5F7FA"/>
          </a:solidFill>
          <a:ln w="12700">
            <a:solidFill>
              <a:srgbClr val="E3E9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96512" y="4590288"/>
            <a:ext cx="2505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Metadata Analysis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096512" y="4901184"/>
            <a:ext cx="25054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Inspects file metadata for signs of digital editing or re-compression.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223760" y="1463040"/>
            <a:ext cx="4389120" cy="4892040"/>
          </a:xfrm>
          <a:prstGeom prst="roundRect">
            <a:avLst>
              <a:gd name="adj" fmla="val 1667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  <a:effectLst>
            <a:outerShdw blurRad="76200" dist="25400" dir="5400000" algn="bl" rotWithShape="0">
              <a:srgbClr val="1C2733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498080" y="1737360"/>
            <a:ext cx="548640" cy="548640"/>
          </a:xfrm>
          <a:prstGeom prst="ellipse">
            <a:avLst/>
          </a:prstGeom>
          <a:solidFill>
            <a:srgbClr val="2E5C8A"/>
          </a:solidFill>
          <a:ln w="12700">
            <a:solidFill>
              <a:srgbClr val="2E5C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9808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FV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183880" y="16459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4</a:t>
            </a:r>
            <a:endParaRPr lang="en-US" sz="1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Face Verification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498080" y="246888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D8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Ensure the document owner matches the presented individual.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498080" y="3154680"/>
            <a:ext cx="310896" cy="310896"/>
          </a:xfrm>
          <a:prstGeom prst="ellipse">
            <a:avLst/>
          </a:prstGeom>
          <a:solidFill>
            <a:srgbClr val="2E5C8A"/>
          </a:solidFill>
          <a:ln w="12700">
            <a:solidFill>
              <a:srgbClr val="2E5C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0" y="3154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001000" y="3099816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D8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capture of the traveler's face at the checkpoint</a:t>
            </a:r>
            <a:endParaRPr lang="en-US" sz="1080" dirty="0"/>
          </a:p>
        </p:txBody>
      </p:sp>
      <p:sp>
        <p:nvSpPr>
          <p:cNvPr id="31" name="Shape 29"/>
          <p:cNvSpPr/>
          <p:nvPr/>
        </p:nvSpPr>
        <p:spPr>
          <a:xfrm>
            <a:off x="7498080" y="3840480"/>
            <a:ext cx="310896" cy="310896"/>
          </a:xfrm>
          <a:prstGeom prst="ellipse">
            <a:avLst/>
          </a:prstGeom>
          <a:solidFill>
            <a:srgbClr val="2E5C8A"/>
          </a:solidFill>
          <a:ln w="12700">
            <a:solidFill>
              <a:srgbClr val="2E5C8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98080" y="3840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001000" y="3785616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D8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extraction from the document photograph</a:t>
            </a:r>
            <a:endParaRPr lang="en-US" sz="1080" dirty="0"/>
          </a:p>
        </p:txBody>
      </p:sp>
      <p:sp>
        <p:nvSpPr>
          <p:cNvPr id="34" name="Shape 32"/>
          <p:cNvSpPr/>
          <p:nvPr/>
        </p:nvSpPr>
        <p:spPr>
          <a:xfrm>
            <a:off x="7498080" y="4526280"/>
            <a:ext cx="310896" cy="310896"/>
          </a:xfrm>
          <a:prstGeom prst="ellipse">
            <a:avLst/>
          </a:prstGeom>
          <a:solidFill>
            <a:srgbClr val="2E5C8A"/>
          </a:solidFill>
          <a:ln w="12700">
            <a:solidFill>
              <a:srgbClr val="2E5C8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98080" y="45262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001000" y="4471416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D8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Deep-learning face-match with similarity score</a:t>
            </a:r>
            <a:endParaRPr lang="en-US" sz="1080" dirty="0"/>
          </a:p>
        </p:txBody>
      </p:sp>
      <p:sp>
        <p:nvSpPr>
          <p:cNvPr id="37" name="Shape 35"/>
          <p:cNvSpPr/>
          <p:nvPr/>
        </p:nvSpPr>
        <p:spPr>
          <a:xfrm>
            <a:off x="7498080" y="5212080"/>
            <a:ext cx="310896" cy="310896"/>
          </a:xfrm>
          <a:prstGeom prst="ellipse">
            <a:avLst/>
          </a:prstGeom>
          <a:solidFill>
            <a:srgbClr val="2E5C8A"/>
          </a:solidFill>
          <a:ln w="12700">
            <a:solidFill>
              <a:srgbClr val="2E5C8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498080" y="5212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001000" y="5157216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D8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Liveness check to prevent photo/spoof attacks</a:t>
            </a:r>
            <a:endParaRPr lang="en-US" sz="1080" dirty="0"/>
          </a:p>
        </p:txBody>
      </p:sp>
      <p:sp>
        <p:nvSpPr>
          <p:cNvPr id="40" name="Text 38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FAKE IDENTITY &amp; DOCUMENT SCREENING SYSTEM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&amp; VIABILITY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on Proven, Deployable Technology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2578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9F0"/>
            </a:solidFill>
            <a:prstDash val="solid"/>
          </a:ln>
          <a:effectLst>
            <a:outerShdw blurRad="76200" dist="25400" dir="5400000" algn="bl" rotWithShape="0">
              <a:srgbClr val="1C2733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664208"/>
            <a:ext cx="457200" cy="457200"/>
          </a:xfrm>
          <a:prstGeom prst="ellipse">
            <a:avLst/>
          </a:prstGeom>
          <a:solidFill>
            <a:srgbClr val="2E5C8A"/>
          </a:solidFill>
          <a:ln w="12700">
            <a:solidFill>
              <a:srgbClr val="2E5C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664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1627632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Feasibility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371600" y="1975104"/>
            <a:ext cx="4251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mature OCR engines, computer-vision forgery detection, and deep-learning face matching — technologies already proven at production scale.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6035040" y="1463040"/>
            <a:ext cx="52578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9F0"/>
            </a:solidFill>
            <a:prstDash val="solid"/>
          </a:ln>
          <a:effectLst>
            <a:outerShdw blurRad="76200" dist="25400" dir="5400000" algn="bl" rotWithShape="0">
              <a:srgbClr val="1C2733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36208" y="1664208"/>
            <a:ext cx="457200" cy="457200"/>
          </a:xfrm>
          <a:prstGeom prst="ellipse">
            <a:avLst/>
          </a:prstGeom>
          <a:solidFill>
            <a:srgbClr val="2E5C8A"/>
          </a:solidFill>
          <a:ln w="12700">
            <a:solidFill>
              <a:srgbClr val="2E5C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36208" y="1664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8000" y="1627632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Operational Feasibility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858000" y="1975104"/>
            <a:ext cx="4251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 into existing checkpoint workflows as a decision-support layer for officers, requiring no change to current document formats.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548640" y="3081528"/>
            <a:ext cx="52578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9F0"/>
            </a:solidFill>
            <a:prstDash val="solid"/>
          </a:ln>
          <a:effectLst>
            <a:outerShdw blurRad="76200" dist="25400" dir="5400000" algn="bl" rotWithShape="0">
              <a:srgbClr val="1C2733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49808" y="3282696"/>
            <a:ext cx="457200" cy="45720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32826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71600" y="324612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Legal &amp; Ethical Viability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371600" y="3593592"/>
            <a:ext cx="4251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data handling, consent-based capture, and role-based access keep the system aligned with data-protection norms.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6035040" y="3081528"/>
            <a:ext cx="52578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9F0"/>
            </a:solidFill>
            <a:prstDash val="solid"/>
          </a:ln>
          <a:effectLst>
            <a:outerShdw blurRad="76200" dist="25400" dir="5400000" algn="bl" rotWithShape="0">
              <a:srgbClr val="1C2733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36208" y="3282696"/>
            <a:ext cx="457200" cy="457200"/>
          </a:xfrm>
          <a:prstGeom prst="ellipse">
            <a:avLst/>
          </a:prstGeom>
          <a:solidFill>
            <a:srgbClr val="2E5C8A"/>
          </a:solidFill>
          <a:ln w="12700">
            <a:solidFill>
              <a:srgbClr val="2E5C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36208" y="32826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858000" y="324612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Scalability &amp; Sustainability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858000" y="3593592"/>
            <a:ext cx="4251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 architecture allows the same platform to scale across multiple checkpoints and document types.</a:t>
            </a:r>
            <a:endParaRPr lang="en-US" sz="1080" dirty="0"/>
          </a:p>
        </p:txBody>
      </p:sp>
      <p:sp>
        <p:nvSpPr>
          <p:cNvPr id="24" name="Text 22"/>
          <p:cNvSpPr/>
          <p:nvPr/>
        </p:nvSpPr>
        <p:spPr>
          <a:xfrm>
            <a:off x="548640" y="51663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5486400"/>
            <a:ext cx="1417320" cy="502920"/>
          </a:xfrm>
          <a:prstGeom prst="roundRect">
            <a:avLst>
              <a:gd name="adj" fmla="val 50909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54864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103120" y="5486400"/>
            <a:ext cx="1417320" cy="502920"/>
          </a:xfrm>
          <a:prstGeom prst="roundRect">
            <a:avLst>
              <a:gd name="adj" fmla="val 50909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103120" y="54864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657600" y="5486400"/>
            <a:ext cx="1417320" cy="502920"/>
          </a:xfrm>
          <a:prstGeom prst="roundRect">
            <a:avLst>
              <a:gd name="adj" fmla="val 50909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0" y="54864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/ PyTorch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212080" y="5486400"/>
            <a:ext cx="1417320" cy="502920"/>
          </a:xfrm>
          <a:prstGeom prst="roundRect">
            <a:avLst>
              <a:gd name="adj" fmla="val 50909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12080" y="54864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Tesseract / EasyOCR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766560" y="5486400"/>
            <a:ext cx="1417320" cy="502920"/>
          </a:xfrm>
          <a:prstGeom prst="roundRect">
            <a:avLst>
              <a:gd name="adj" fmla="val 50909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66560" y="54864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+ REST API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8321040" y="5486400"/>
            <a:ext cx="1417320" cy="502920"/>
          </a:xfrm>
          <a:prstGeom prst="roundRect">
            <a:avLst>
              <a:gd name="adj" fmla="val 50909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321040" y="54864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9875520" y="5486400"/>
            <a:ext cx="1417320" cy="502920"/>
          </a:xfrm>
          <a:prstGeom prst="roundRect">
            <a:avLst>
              <a:gd name="adj" fmla="val 50909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875520" y="54864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(AWS / GCP)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FAKE IDENTITY &amp; DOCUMENT SCREENING SYSTEM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C9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IMPACT, BENEFITS &amp; REFERENCES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Impact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402336" cy="402336"/>
          </a:xfrm>
          <a:prstGeom prst="ellipse">
            <a:avLst/>
          </a:prstGeom>
          <a:solidFill>
            <a:srgbClr val="2E5C8A"/>
          </a:solidFill>
          <a:ln w="12700">
            <a:solidFill>
              <a:srgbClr val="2E5C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17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" y="1389888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Screening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097280" y="169164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D8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document verification time from several minutes to a few seconds.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548640" y="2258568"/>
            <a:ext cx="402336" cy="40233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2585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2231136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Detection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097280" y="2532888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D8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detection of forged and tampered documents beyond manual capability.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548640" y="3099816"/>
            <a:ext cx="402336" cy="402336"/>
          </a:xfrm>
          <a:prstGeom prst="ellipse">
            <a:avLst/>
          </a:prstGeom>
          <a:solidFill>
            <a:srgbClr val="2E5C8A"/>
          </a:solidFill>
          <a:ln w="12700">
            <a:solidFill>
              <a:srgbClr val="2E5C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0998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97280" y="3072384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Decisions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097280" y="3374136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D8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Brings a consistent, standardized screening process across all checkpoints.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548640" y="3941064"/>
            <a:ext cx="402336" cy="402336"/>
          </a:xfrm>
          <a:prstGeom prst="ellipse">
            <a:avLst/>
          </a:prstGeom>
          <a:solidFill>
            <a:srgbClr val="2E5C8A"/>
          </a:solidFill>
          <a:ln w="12700">
            <a:solidFill>
              <a:srgbClr val="2E5C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9410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" y="3913632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Risk Assessment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097280" y="4215384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D8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risk-based prioritization instead of purely manual inspection.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548640" y="4782312"/>
            <a:ext cx="402336" cy="402336"/>
          </a:xfrm>
          <a:prstGeom prst="ellipse">
            <a:avLst/>
          </a:prstGeom>
          <a:solidFill>
            <a:srgbClr val="2E5C8A"/>
          </a:solidFill>
          <a:ln w="12700">
            <a:solidFill>
              <a:srgbClr val="2E5C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7823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97280" y="475488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 Trail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097280" y="5056632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D8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digital audit trail to support investigations and intelligence analysis.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6903720" y="1417320"/>
            <a:ext cx="4709160" cy="1051560"/>
          </a:xfrm>
          <a:prstGeom prst="roundRect">
            <a:avLst>
              <a:gd name="adj" fmla="val 6957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32320" y="1545336"/>
            <a:ext cx="4251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FFD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PROJECT NAME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132320" y="1783080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AI-Based Fake Identity &amp; Document Screening System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6903720" y="2697480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6C9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&amp; REFERENCES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903720" y="3026664"/>
            <a:ext cx="4709160" cy="841248"/>
          </a:xfrm>
          <a:prstGeom prst="roundRect">
            <a:avLst>
              <a:gd name="adj" fmla="val 6522"/>
            </a:avLst>
          </a:prstGeom>
          <a:solidFill>
            <a:srgbClr val="132A4E"/>
          </a:solidFill>
          <a:ln w="9525">
            <a:solidFill>
              <a:srgbClr val="2E5C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86600" y="3118104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ICAO Doc 9303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086600" y="3392424"/>
            <a:ext cx="4343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D8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Readable Travel Documents standard (MRZ, biometric passport specs).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903720" y="3986784"/>
            <a:ext cx="4709160" cy="841248"/>
          </a:xfrm>
          <a:prstGeom prst="roundRect">
            <a:avLst>
              <a:gd name="adj" fmla="val 6522"/>
            </a:avLst>
          </a:prstGeom>
          <a:solidFill>
            <a:srgbClr val="132A4E"/>
          </a:solidFill>
          <a:ln w="9525">
            <a:solidFill>
              <a:srgbClr val="2E5C8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086600" y="4078224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&amp; Deep Learning Forgery Detection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086600" y="4352544"/>
            <a:ext cx="4343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D8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Computer-vision techniques for image tampering and splicing detection.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903720" y="4946904"/>
            <a:ext cx="4709160" cy="841248"/>
          </a:xfrm>
          <a:prstGeom prst="roundRect">
            <a:avLst>
              <a:gd name="adj" fmla="val 6522"/>
            </a:avLst>
          </a:prstGeom>
          <a:solidFill>
            <a:srgbClr val="132A4E"/>
          </a:solidFill>
          <a:ln w="9525">
            <a:solidFill>
              <a:srgbClr val="2E5C8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086600" y="5038344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Face Recognition Vendor Test (FRVT)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086600" y="5312664"/>
            <a:ext cx="4343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D8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reference for face-matching algorithm accuracy.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903720" y="5907024"/>
            <a:ext cx="4709160" cy="841248"/>
          </a:xfrm>
          <a:prstGeom prst="roundRect">
            <a:avLst>
              <a:gd name="adj" fmla="val 6522"/>
            </a:avLst>
          </a:prstGeom>
          <a:solidFill>
            <a:srgbClr val="132A4E"/>
          </a:solidFill>
          <a:ln w="9525">
            <a:solidFill>
              <a:srgbClr val="2E5C8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086600" y="5998464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Bureau of Immigration, Govt. of India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086600" y="6272784"/>
            <a:ext cx="4343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D8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for checkpoint processes and document verification norms.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FAKE IDENTITY &amp; DOCUMENT SCREENING SYSTEM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912</Words>
  <Application>Microsoft Office PowerPoint</Application>
  <PresentationFormat>Widescreen</PresentationFormat>
  <Paragraphs>208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devkrishna rastogi</cp:lastModifiedBy>
  <cp:revision>2</cp:revision>
  <dcterms:created xsi:type="dcterms:W3CDTF">2026-08-31T14:33:30Z</dcterms:created>
  <dcterms:modified xsi:type="dcterms:W3CDTF">2026-08-31T15:42:44Z</dcterms:modified>
</cp:coreProperties>
</file>